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68" r:id="rId18"/>
    <p:sldId id="279" r:id="rId29"/>
    <p:sldId id="282" r:id="rId32"/>
    <p:sldId id="272" r:id="rId22"/>
    <p:sldId id="283" r:id="rId33"/>
    <p:sldId id="281" r:id="rId31"/>
    <p:sldId id="270" r:id="rId20"/>
    <p:sldId id="275" r:id="rId25"/>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8.xml"/><Relationship Id="rId16" Type="http://schemas.openxmlformats.org/officeDocument/2006/relationships/slide" Target="slides/slide11.xml"/><Relationship Id="rId18" Type="http://schemas.openxmlformats.org/officeDocument/2006/relationships/slide" Target="slides/slide13.xml"/><Relationship Id="rId20" Type="http://schemas.openxmlformats.org/officeDocument/2006/relationships/slide" Target="slides/slide15.xml"/><Relationship Id="rId22" Type="http://schemas.openxmlformats.org/officeDocument/2006/relationships/slide" Target="slides/slide17.xml"/><Relationship Id="rId23" Type="http://schemas.openxmlformats.org/officeDocument/2006/relationships/slide" Target="slides/slide18.xml"/><Relationship Id="rId25" Type="http://schemas.openxmlformats.org/officeDocument/2006/relationships/slide" Target="slides/slide20.xml"/><Relationship Id="rId29" Type="http://schemas.openxmlformats.org/officeDocument/2006/relationships/slide" Target="slides/slide24.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السلام عليكم. نحن فريق Lemonada، ونقدّم «يومك»: لعبة ثلاثية الأبعاد في المتصفح، يعيش فيها المتعلّم يوماً عادياً في بلدة واحدة، ويرى كيف يتعامل المسلمون مع مواقفه اليومية، ثم يقرأ الدليل الموثّق. (15 ثانية)</a:t>
            </a: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المشكلة: من يتعرّف على الإسلام، وكثير من المسلمين في الغرب، تواجههم أسئلة يومية: قرض عقاري، حفلة عمل فيها خمر، محفظة مفقودة. المتاح إما فتوى نصية طويلة، أو مقطع قصير بلا مصدر، أو روبوت محادثة عام يجيب عن كل شيء وقد ينسب نصاً لا مصدر له ولا يحيل إلى عالم. ويوم المسلم نفسه موزّع على تطبيقات متفرقة. (25 ثانية)</a:t>
            </a: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الحل: «يومك» بلدة واحدة متصلة. يخرج اللاعب من البيت إلى العمل والكلية والشارع، ويدخل المسجد والمصرف الإسلامي. في كل محطة موقف حقيقي، وبعده بطاقة حكم بالدليل. وفي المسجد مواقيت صلاة حيّة وأذان، ومصحف مرتّل مع معاني الآيات، وأذكار الصباح والمساء من مصادر موثّقة. وفي المصرف مستشار للمعاملات وحاسبة زكاة. (25 ثانية)</a:t>
            </a: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النتائج، وكلها قابلة لإعادة التوليد: {{TESTS_PASS}} اختباراً آلياً ناجحاً. على الحالات الاثنتي عشرة في الحزمة: {{EVAL_PASS}}. {{SOURCES_VERIFIED}} مصدراً طوبق آلياً حرفاً بحرف. ودراسة قبلية وبعدية مع الفئة المستهدفة: {{STUDY_RESULTS}}. النتائج الحيّة في صفحة results، ولا نعرض رقماً لم نقِسه. (30 ثانية)</a:t>
            </a: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الموثوقية: صنّفنا كل محتوى بمستويات الحزمة العلمية الأربعة. المستوى أ نصوص تُعرض حرفياً ولا يولّدها النموذج أبداً، ونطابقها آلياً مع مصدرها. المستوى ب شرح من المادة المراجعة، وشرحنا موسوم بأنه ليس نصاً شرعياً. المستوى ج مسائل خلافية نعرض فيها المذاهب الأربعة ونطاق الحكم. والمستوى د حالات شخصية لا نحكم فيها، بل نحيل، ويصل السؤال إلى لوحة الخبراء. ويمكن لأي محكّم إعادة الفحص بالأوامر المكتوبة أعلى الشريحة. الأحكام مسودات أعدّها الذكاء الاصطناعي وتنتظر مراجعة عالم، ولا ندّعي غير ذلك. (35 ثانية)</a:t>
            </a: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ما أُنجز وما يأتي، بفصل واضح: المراحل الثلاث الأولى منجزة وتعمل في الرابط الحي: المواقف الثمانية عشر، والبلدة الموحّدة بالمسجد والمصرف، والمرشد الصوتي ولوحة الخبراء والتقييم. التالي: مراجعة عالم مؤهل لكل حكم وتوقيعه في الشهر الأول، ثم شريك تبنٍّ ومواقف ولغات جديدة. (20 ثانية)</a:t>
            </a: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واقعية التشغيل: خادم واحد على Cloud Run. التكلفة التقديرية نحو 45 دولاراً لكل ألف لاعب، والأجزاء المعدّة مسبقاً مجانية. لكل اعتماد بديل: إن غاب Claude يعمل مخطط حتمي وإجابات معدّة، والمواقيت تُحسب محلياً. المحتوى منفصل عن الكود، ويصونه الخبراء من لوحة التحكم. والتبنّي عبر المراكز الإسلامية في الأيام المفتوحة ودروس المسلمين الجدد. (30 ثانية)</a:t>
            </a: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آلية العمل في أربع خطوات: يقول اللاعب ما يهمه، كتابةً أو بصوته، فيرتّب المخطط الذكي رحلته من مكتبة المواقف المراجعة. يعيش الموقف ويختار كيف يتصرف. تظهر بطاقة الحكم: الآيات والأحاديث حرفياً بأرقامها ودرجاتها، والمذاهب الأربعة جنباً إلى جنب. ثم سؤال فهم، والقياس قبل اللعب وبعده. ولا نسأل عن المعتقد ولا نخزّن ما يكتبه اللاعب. (25 ثانية)</a:t>
            </a: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لقطات من المشروع: المصحف المرتّل في المسجد، يستمع اللاعب للتلاوة آيةً آية ويقرأ معناها، ولوحة المراجعة الشرعية حيث يصل سؤال اللاعب ويُفرز آلياً، ثم يجيب عنه خبير ويعتمده. وهنا لوحة مواقيت الصلاة في المسجد مع الأذان. وكلها في الرابط الحي: {{LIVE_URL}}. (20 ثانية)</a:t>
            </a: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الذكاء الاصطناعي هنا ليس روبوتاً عاماً. المرشد يستقبل السؤال بالصوت أو الكتابة. قبل أي نموذج نفرز الأسئلة الشخصية ونحيلها إلى عالم. ثم نسترجع المقاطع المراجعة فقط، ونرسلها إلى Claude من الخادم، ويُلزَم بإرجاع JSON يذكر معرّفات المقاطع التي اعتمد عليها. مدقّق آلي يرفض أي معرّف لم نرسله، وأي نص يشبه آية أو حديثاً أو رابطاً، فإن فشل امتنع المرشد وأحال. وكل سؤال يمتنع عنه يصل إلى لوحة خبراء شرعيين، وما يعتمدونه يصبح مصدراً جديداً. وعند غياب المفتاح أو أي عطل تعمل اللعبة ببديل حتمي. (40 ثانية)</a:t>
            </a: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القيمة المضافة مقارنة ببديل محدد: روبوت محادثة عام. الروبوت العام يجيب عن أي سؤال من معرفته، وقد ينسب نصاً بلا مصدر، وقد يجيب عن الحالة الشخصية بحكم مستقل. «يومك» يجعل المتعلّم يعيش الموقف أولاً، ثم يجيبه المرشد من مصادر تحقّقنا منها فقط أو يمتنع ويحيل. وقِسنا الفرق آلياً على الحالات الاثنتي عشرة في الحزمة العلمية: {{EVAL_COMPARISON}}. (30 ثانية)</a:t>
            </a: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شكراً لكم. جرّبوا «يومك» في الرابط الحي، والمستودع مفتوح بكل اختباراته ومصادره. نسعد بأسئلتكم. (5 ثوانٍ)</a:t>
            </a: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«يومك»</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لعبة ثلاثية الأبعاد: يوم كامل في بلدة واحدة،</a:t>
            </a:r>
            <a:endParaRPr/>
          </a:p>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بأدلة موثّقة ومرشد ذكي مقيّد بالمصادر</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9652000" y="9120188"/>
            <a:ext cx="71882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فريق Lemonada · المسار 03: التجارب التفاعلية</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6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أسئلة يومية حقيقية، وإجابات لا تناسب المتعلّم</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قرض عقاري بفائدة، حفلة عمل فيها خمر، محفظة مفقودة، سحب خيري: كيف يتصرف المسلم؟ ولماذا؟</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فتاوى نصية طويلة</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تشرح الحكم، لكنها لا تجعل المتعلّم يعيش الموقف ولا تبيّن التصرف العملي.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مقاطع قصيرة بلا مصادر</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سريعة الانتشار، لكنها نادراً ما تذكر الآية أو الحديث ودرجته.</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روبوتات محادثة عامة</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تجيب عن كل شيء، وقد تنسب نصاً لا مصدر له، وتختزل الخلاف، ولا تحيل إلى عالم.</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يوم المسلم مجزّأ</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المواقيت والمصحف والأذكار والمعاملات في تطبيقات متفرقة لا تربطها رحلة واحدة.</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بلدة واحدة يعيش فيها المتعلّم يوماً كاملاً</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76" name="SLOT:SCREENSHOT_TOWN" descr="solution.png"/>
          <p:cNvPicPr>
            <a:picLocks noGrp="1" noChangeAspect="1"/>
          </p:cNvPicPr>
          <p:nvPr>
            <p:ph idx="2" type="pic"/>
          </p:nvPr>
        </p:nvPicPr>
        <p:blipFill>
          <a:blip r:embed="rId5"/>
          <a:srcRect l="89" r="89"/>
          <a:stretch>
            <a:fillRect/>
          </a:stretch>
        </p:blipFill>
        <p:spPr>
          <a:xfrm>
            <a:off x="1428750" y="4048125"/>
            <a:ext cx="8382000" cy="4714800"/>
          </a:xfrm>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بلدة ثلاثية الأبعاد متصلة: البيت والعمل والكلية والشارع والحفلات والمسجد والمصرف الإسلامي، يتنقّل بينها اللاعب مشياً.</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يهم المستخدم؟</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18 موقفاً ببطاقات حكم موثّقة، ومواقيت صلاة حيّة مع الأذان، ومصحف مرتّل مع معاني الآيات، وأذكار موثّقة، وحاسبة زكاة.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قِسناه، بأرقام يمكن إعادة توليدها</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الدراسة القبلية/البعدية مع الفئة المستهدفة: {{STUDY_RESULTS}}</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{{TESTS_PASS}}</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اختباراً آلياً ناجحاً</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من أصل {{TESTS_TOTAL}}</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npm test</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{{EVAL_PASS}}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من حالات الحزمة الـ12</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سلوك متوقع</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تقييم آلي متكرر</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{{SOURCES_VERIFIED}}</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مصدراً مطابَقاً آلياً</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من أصل {{SOURCES_TOTAL}}</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docs/SOURCES.md</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{{STUDY_N}}</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مشاركاً في الدراسة</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متوسط تحسّن الفهم</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{{STUDY_GAIN}}</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المستودع وصفحة النتائج الحيّة results.html، بتاريخ {{RESULTS_DATE}}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الموثوقية والسلامة العلمية</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كل محتوى مصنّف بمستويات الحزمة العلمية الأربعة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تحقّق بنفسك: npm test · npm run audit · docs/SOURCES.md · docs/QA_BANK.md</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الحارس</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مثال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المعالجة في «يومك»</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المستوى</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مطابقة آلية حرفاً بحرف</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بطاقة الحكم، المصحف، الأذكار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آيات بنص مجمع الملك فهد، وأحاديث برقمها ودرجتها؛ تُعرض حرفياً ولا يولّدها النموذج</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أ · نص أصلي مستقر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معرّفات مصادر إلزامية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«بكلمات بسيطة»، إجابة المرشد</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من المادة المراجعة مع المرجع؛ وشرحنا موسوم «توضيحي، ليس نصاً شرعياً»</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 · شرح واستدلال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اختبار المستويات</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الرهن العقاري، المصافحة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المذاهب الأربعة جنباً إلى جنب، مع نطاق الحكم «قول الجمهور» وبيان الخلاف</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ج · مسائل خلافية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فرز قبل النموذج + مراجعة بشرية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«أعيش في أوهايو، هل يجوز لي…؟»</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لا حكم مستقل: معلومة عامة وإحالة إلى عالم، والسؤال يصل إلى لوحة الخبراء</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د · فتوى أو حالة شخصية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المصادر: نص مجمع الملك فهد وترجماته عبر quranenc.com، والحديث ودرجته من dorar.net، والشاملة؛ وغيرها موسوم للمراجعة</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ما أُنجز وما يأتي</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الاستمرار</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المراحل الثلاث الأولى منجزة وتعمل في الرابط الحي (4–6 أكتوبر)، والأخيرتان مقترح لاحق</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أُنجز: المواقف</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4–5 أكتوبر</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18 موقفاً في 6 أماكن، وبطاقات حكم موثّقة</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أُنجز: البلدة</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6 أكتوبر</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بلدة موحّدة، مسجد، أذان، مصحف، أذكار، مصرف</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أُنجز: الضبط</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6 أكتوبر</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مرشد صوتي، لوحة الخبراء، تقييم آلي، دراسة</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التالي: المراجعة</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الشهر الأول</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عالم مؤهل يراجع كل حكم ويوقّعه</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التالي: التوسع</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الأشهر 2–6</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شريك تبنٍّ، مواقف جديدة، لغات أخرى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واقعية التشغيل</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تكلفة منخفضة، وبديل لكل اعتماد</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خادم Node واحد على Cloud Run يقدّم اللعبة ودوال الذكاء الاصطناعي</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التكلفة لكل 1000 لاعب</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تقدير ≈ 45 دولاراً لاستدعاءات Claude (خطة + 3 أسئلة لكل لاعب)، والأزرار والإجابات المعدّة مجانية. القياس الفعلي: {{COST_MEASURED}}</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الاعتماديات والبدائل</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عند تعذّر Claude: مخطط حتمي وإجابات معدّة مسبقاً. المواقيت تُحسب محلياً بمكتبة adhan-js. المصحف من api.quran.com والتلاوة من everyayah.com.</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صيانة المحتوى</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المحتوى في ملفات JSON منفصلة عن الكود؛ والخبراء يجيبون ويراجعون الأحكام من لوحة التحكم؛ والفحص الآلي يعيد مطابقة النصوص.</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خطة التبنّي</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مراكز إسلامية ودعوية تستضيف اللعبة في الأيام المفتوحة ودروس المسلمين الجدد؛ الكود مفتوح المصدر.</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آلية العمل</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رحلة المتعلّم: من الاهتمام إلى الفهم</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لا حساب، ولا سؤال عن المعتقد، ولا تخزين لما يكتبه اللاعب</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خطة الرحلة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يكتب اللاعب أو يقول ما يهمه</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فيرتّب المخطط الذكي مواقفه</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عِش الموقف</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يتجوّل ويحاور الشخصيات</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ويختار كيف يتصرف آدم</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بطاقة الحكم</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آيات وأحاديث موثّقة حرفياً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والمذاهب الأربعة والمرشد</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تحقّق وتابع</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سؤال فهم ثم المحطة التالية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وقياس الفهم قبل وبعد</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لقطات من المشروع</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من داخل اللعبة ولوحة الخبراء</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46" name="SLOT:SCREENSHOT_QURAN" descr="gallery1.png"/>
          <p:cNvPicPr>
            <a:picLocks noGrp="1" noChangeAspect="1"/>
          </p:cNvPicPr>
          <p:nvPr>
            <p:ph idx="2" type="pic"/>
          </p:nvPr>
        </p:nvPicPr>
        <p:blipFill>
          <a:blip r:embed="rId5"/>
          <a:srcRect t="69" b="69"/>
          <a:stretch>
            <a:fillRect/>
          </a:stretch>
        </p:blipFill>
        <p:spPr>
          <a:xfrm>
            <a:off x="12077700" y="3714750"/>
            <a:ext cx="4762500" cy="4286400"/>
          </a:xfrm>
        </p:spPr>
      </p:pic>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المصحف المرتّل مع معاني الآيات</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لوحة الخبراء: فرز آلي ثم إجابة عالم</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مواقيت الصلاة الحيّة والأذان</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pic>
        <p:nvPicPr>
          <p:cNvPr id="851" name="SLOT:SCREENSHOT_DASHBOARD" descr="gallery2.png"/>
          <p:cNvPicPr>
            <a:picLocks noGrp="1" noChangeAspect="1"/>
          </p:cNvPicPr>
          <p:nvPr>
            <p:ph idx="2" type="pic"/>
          </p:nvPr>
        </p:nvPicPr>
        <p:blipFill>
          <a:blip r:embed="rId6"/>
          <a:srcRect t="107" b="107"/>
          <a:stretch>
            <a:fillRect/>
          </a:stretch>
        </p:blipFill>
        <p:spPr>
          <a:xfrm>
            <a:off x="6743700" y="3714675"/>
            <a:ext cx="4762500" cy="4286400"/>
          </a:xfrm>
        </p:spPr>
      </p:pic>
      <p:pic>
        <p:nvPicPr>
          <p:cNvPr id="852" name="SLOT:SCREENSHOT_PRAYER" descr="gallery3.png"/>
          <p:cNvPicPr>
            <a:picLocks noGrp="1" noChangeAspect="1"/>
          </p:cNvPicPr>
          <p:nvPr>
            <p:ph idx="2" type="pic"/>
          </p:nvPr>
        </p:nvPicPr>
        <p:blipFill>
          <a:blip r:embed="rId7"/>
          <a:srcRect t="69" b="69"/>
          <a:stretch>
            <a:fillRect/>
          </a:stretch>
        </p:blipFill>
        <p:spPr>
          <a:xfrm>
            <a:off x="1409700" y="3714750"/>
            <a:ext cx="4762500" cy="4286400"/>
          </a:xfrm>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الذكاء الاصطناعي</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مرشد يجيب من المصادر المراجعة فقط، أو يمتنع ويحيل</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توليد مقيّد بالاسترجاع (Claude عبر الخادم) · المفتاح لا يصل إلى المتصفح · بديل حتمي عند أي عطل</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64" name="AI step 01"/>
          <p:cNvSpPr/>
          <p:nvPr/>
        </p:nvSpPr>
        <p:spPr>
          <a:xfrm>
            <a:off x="140081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AI step 01 text"/>
          <p:cNvSpPr txBox="1"/>
          <p:nvPr/>
        </p:nvSpPr>
        <p:spPr>
          <a:xfrm>
            <a:off x="141605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01</a:t>
            </a:r>
          </a:p>
          <a:p>
            <a:pPr algn="r" rtl="1"/>
            <a:r>
              <a:rPr sz="1900" b="1">
                <a:solidFill>
                  <a:srgbClr val="FFFFFF"/>
                </a:solidFill>
                <a:latin typeface="Readex Pro"/>
                <a:cs typeface="Readex Pro"/>
              </a:rPr>
              <a:t>سؤال بالصوت أو الكتابة</a:t>
            </a:r>
          </a:p>
          <a:p>
            <a:pPr algn="r" rtl="1"/>
            <a:r>
              <a:rPr sz="1600" b="0">
                <a:solidFill>
                  <a:srgbClr val="C9CFF2"/>
                </a:solidFill>
                <a:latin typeface="Readex Pro"/>
                <a:cs typeface="Readex Pro"/>
              </a:rPr>
              <a:t>تعرّف على الكلام ونطق للإجابة عبر Web Speech</a:t>
            </a:r>
          </a:p>
        </p:txBody>
      </p:sp>
      <p:sp>
        <p:nvSpPr>
          <p:cNvPr id="866" name="Left Arrow 865"/>
          <p:cNvSpPr/>
          <p:nvPr/>
        </p:nvSpPr>
        <p:spPr>
          <a:xfrm>
            <a:off x="136525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AI step 02"/>
          <p:cNvSpPr/>
          <p:nvPr/>
        </p:nvSpPr>
        <p:spPr>
          <a:xfrm>
            <a:off x="107950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AI step 02 text"/>
          <p:cNvSpPr txBox="1"/>
          <p:nvPr/>
        </p:nvSpPr>
        <p:spPr>
          <a:xfrm>
            <a:off x="109474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02</a:t>
            </a:r>
          </a:p>
          <a:p>
            <a:pPr algn="r" rtl="1"/>
            <a:r>
              <a:rPr sz="1900" b="1">
                <a:solidFill>
                  <a:srgbClr val="FFFFFF"/>
                </a:solidFill>
                <a:latin typeface="Readex Pro"/>
                <a:cs typeface="Readex Pro"/>
              </a:rPr>
              <a:t>فرز قبل النموذج</a:t>
            </a:r>
          </a:p>
          <a:p>
            <a:pPr algn="r" rtl="1"/>
            <a:r>
              <a:rPr sz="1600" b="0">
                <a:solidFill>
                  <a:srgbClr val="C9CFF2"/>
                </a:solidFill>
                <a:latin typeface="Readex Pro"/>
                <a:cs typeface="Readex Pro"/>
              </a:rPr>
              <a:t>سؤال عن حالة شخصية = إحالة مباشرة إلى عالم</a:t>
            </a:r>
          </a:p>
        </p:txBody>
      </p:sp>
      <p:sp>
        <p:nvSpPr>
          <p:cNvPr id="869" name="Left Arrow 868"/>
          <p:cNvSpPr/>
          <p:nvPr/>
        </p:nvSpPr>
        <p:spPr>
          <a:xfrm>
            <a:off x="104394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AI step 03"/>
          <p:cNvSpPr/>
          <p:nvPr/>
        </p:nvSpPr>
        <p:spPr>
          <a:xfrm>
            <a:off x="75819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AI step 03 text"/>
          <p:cNvSpPr txBox="1"/>
          <p:nvPr/>
        </p:nvSpPr>
        <p:spPr>
          <a:xfrm>
            <a:off x="77343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03</a:t>
            </a:r>
          </a:p>
          <a:p>
            <a:pPr algn="r" rtl="1"/>
            <a:r>
              <a:rPr sz="1900" b="1">
                <a:solidFill>
                  <a:srgbClr val="FFFFFF"/>
                </a:solidFill>
                <a:latin typeface="Readex Pro"/>
                <a:cs typeface="Readex Pro"/>
              </a:rPr>
              <a:t>استرجاع مقيّد</a:t>
            </a:r>
          </a:p>
          <a:p>
            <a:pPr algn="r" rtl="1"/>
            <a:r>
              <a:rPr sz="1600" b="0">
                <a:solidFill>
                  <a:srgbClr val="C9CFF2"/>
                </a:solidFill>
                <a:latin typeface="Readex Pro"/>
                <a:cs typeface="Readex Pro"/>
              </a:rPr>
              <a:t>من المقاطع المراجعة وبطاقة الحكم الحالية فقط</a:t>
            </a:r>
          </a:p>
        </p:txBody>
      </p:sp>
      <p:sp>
        <p:nvSpPr>
          <p:cNvPr id="872" name="Left Arrow 871"/>
          <p:cNvSpPr/>
          <p:nvPr/>
        </p:nvSpPr>
        <p:spPr>
          <a:xfrm>
            <a:off x="72263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AI step 04"/>
          <p:cNvSpPr/>
          <p:nvPr/>
        </p:nvSpPr>
        <p:spPr>
          <a:xfrm>
            <a:off x="43688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AI step 04 text"/>
          <p:cNvSpPr txBox="1"/>
          <p:nvPr/>
        </p:nvSpPr>
        <p:spPr>
          <a:xfrm>
            <a:off x="45212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04</a:t>
            </a:r>
          </a:p>
          <a:p>
            <a:pPr algn="r" rtl="1"/>
            <a:r>
              <a:rPr sz="1900" b="1">
                <a:solidFill>
                  <a:srgbClr val="FFFFFF"/>
                </a:solidFill>
                <a:latin typeface="Readex Pro"/>
                <a:cs typeface="Readex Pro"/>
              </a:rPr>
              <a:t>Claude بمخرجات JSON</a:t>
            </a:r>
          </a:p>
          <a:p>
            <a:pPr algn="r" rtl="1"/>
            <a:r>
              <a:rPr sz="1600" b="0">
                <a:solidFill>
                  <a:srgbClr val="C9CFF2"/>
                </a:solidFill>
                <a:latin typeface="Readex Pro"/>
                <a:cs typeface="Readex Pro"/>
              </a:rPr>
              <a:t>معرّفات المقاطع قائمة مغلقة؛ لا نص ديني حر</a:t>
            </a:r>
          </a:p>
        </p:txBody>
      </p:sp>
      <p:sp>
        <p:nvSpPr>
          <p:cNvPr id="875" name="Left Arrow 874"/>
          <p:cNvSpPr/>
          <p:nvPr/>
        </p:nvSpPr>
        <p:spPr>
          <a:xfrm>
            <a:off x="40132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AI step 05"/>
          <p:cNvSpPr/>
          <p:nvPr/>
        </p:nvSpPr>
        <p:spPr>
          <a:xfrm>
            <a:off x="11557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AI step 05 text"/>
          <p:cNvSpPr txBox="1"/>
          <p:nvPr/>
        </p:nvSpPr>
        <p:spPr>
          <a:xfrm>
            <a:off x="13081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05</a:t>
            </a:r>
          </a:p>
          <a:p>
            <a:pPr algn="r" rtl="1"/>
            <a:r>
              <a:rPr sz="1900" b="1">
                <a:solidFill>
                  <a:srgbClr val="FFFFFF"/>
                </a:solidFill>
                <a:latin typeface="Readex Pro"/>
                <a:cs typeface="Readex Pro"/>
              </a:rPr>
              <a:t>مدقّق آلي</a:t>
            </a:r>
          </a:p>
          <a:p>
            <a:pPr algn="r" rtl="1"/>
            <a:r>
              <a:rPr sz="1600" b="0">
                <a:solidFill>
                  <a:srgbClr val="C9CFF2"/>
                </a:solidFill>
                <a:latin typeface="Readex Pro"/>
                <a:cs typeface="Readex Pro"/>
              </a:rPr>
              <a:t>إجابة موسومة بمصادرها، أو امتناع وإحالة</a:t>
            </a:r>
          </a:p>
        </p:txBody>
      </p:sp>
      <p:sp>
        <p:nvSpPr>
          <p:cNvPr id="878" name="AI card 1"/>
          <p:cNvSpPr/>
          <p:nvPr/>
        </p:nvSpPr>
        <p:spPr>
          <a:xfrm>
            <a:off x="11950700" y="6540500"/>
            <a:ext cx="4889500" cy="2222500"/>
          </a:xfrm>
          <a:prstGeom prst="roundRect">
            <a:avLst>
              <a:gd name="adj" fmla="val 8000"/>
            </a:avLst>
          </a:prstGeom>
          <a:solidFill>
            <a:srgbClr val="161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AI card 1 text"/>
          <p:cNvSpPr txBox="1"/>
          <p:nvPr/>
        </p:nvSpPr>
        <p:spPr>
          <a:xfrm>
            <a:off x="12179300" y="6718300"/>
            <a:ext cx="4432300" cy="1866900"/>
          </a:xfrm>
          <a:prstGeom prst="rect">
            <a:avLst/>
          </a:prstGeom>
          <a:noFill/>
        </p:spPr>
        <p:txBody>
          <a:bodyPr wrap="square" anchor="t" lIns="25400" rIns="25400" tIns="25400" bIns="25400">
            <a:spAutoFit/>
          </a:bodyPr>
          <a:lstStyle/>
          <a:p>
            <a:pPr algn="r" rtl="1"/>
            <a:r>
              <a:rPr sz="2000" b="1">
                <a:solidFill>
                  <a:srgbClr val="2EF2C2"/>
                </a:solidFill>
                <a:latin typeface="Readex Pro"/>
                <a:cs typeface="Readex Pro"/>
              </a:rPr>
              <a:t>مخطط الرحلة</a:t>
            </a:r>
          </a:p>
          <a:p>
            <a:pPr algn="r" rtl="1"/>
            <a:r>
              <a:rPr sz="1700" b="0">
                <a:solidFill>
                  <a:srgbClr val="FFFFFF"/>
                </a:solidFill>
                <a:latin typeface="Readex Pro"/>
                <a:cs typeface="Readex Pro"/>
              </a:rPr>
              <a:t>يرتّب المواقف الثمانية عشر بحسب اهتمام اللاعب؛ معرّفات معروفة فقط، وعند الفشل ترتيب حتمي من الكتالوج نفسه.</a:t>
            </a:r>
          </a:p>
        </p:txBody>
      </p:sp>
      <p:sp>
        <p:nvSpPr>
          <p:cNvPr id="880" name="AI card 2"/>
          <p:cNvSpPr/>
          <p:nvPr/>
        </p:nvSpPr>
        <p:spPr>
          <a:xfrm>
            <a:off x="6680200" y="6540500"/>
            <a:ext cx="4889500" cy="2222500"/>
          </a:xfrm>
          <a:prstGeom prst="roundRect">
            <a:avLst>
              <a:gd name="adj" fmla="val 8000"/>
            </a:avLst>
          </a:prstGeom>
          <a:solidFill>
            <a:srgbClr val="161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AI card 2 text"/>
          <p:cNvSpPr txBox="1"/>
          <p:nvPr/>
        </p:nvSpPr>
        <p:spPr>
          <a:xfrm>
            <a:off x="6908800" y="6718300"/>
            <a:ext cx="4432300" cy="1866900"/>
          </a:xfrm>
          <a:prstGeom prst="rect">
            <a:avLst/>
          </a:prstGeom>
          <a:noFill/>
        </p:spPr>
        <p:txBody>
          <a:bodyPr wrap="square" anchor="t" lIns="25400" rIns="25400" tIns="25400" bIns="25400">
            <a:spAutoFit/>
          </a:bodyPr>
          <a:lstStyle/>
          <a:p>
            <a:pPr algn="r" rtl="1"/>
            <a:r>
              <a:rPr sz="2000" b="1">
                <a:solidFill>
                  <a:srgbClr val="2EF2C2"/>
                </a:solidFill>
                <a:latin typeface="Readex Pro"/>
                <a:cs typeface="Readex Pro"/>
              </a:rPr>
              <a:t>حلقة المراجعة البشرية</a:t>
            </a:r>
          </a:p>
          <a:p>
            <a:pPr algn="r" rtl="1"/>
            <a:r>
              <a:rPr sz="1700" b="0">
                <a:solidFill>
                  <a:srgbClr val="FFFFFF"/>
                </a:solidFill>
                <a:latin typeface="Readex Pro"/>
                <a:cs typeface="Readex Pro"/>
              </a:rPr>
              <a:t>كل سؤال يمتنع عنه المرشد أو يحيله يصل إلى لوحة الخبراء الشرعيين؛ وما يعتمدونه يصبح مقطعاً يجيب منه المرشد.</a:t>
            </a:r>
          </a:p>
        </p:txBody>
      </p:sp>
      <p:sp>
        <p:nvSpPr>
          <p:cNvPr id="882" name="AI card 3"/>
          <p:cNvSpPr/>
          <p:nvPr/>
        </p:nvSpPr>
        <p:spPr>
          <a:xfrm>
            <a:off x="1409700" y="6540500"/>
            <a:ext cx="4889500" cy="2222500"/>
          </a:xfrm>
          <a:prstGeom prst="roundRect">
            <a:avLst>
              <a:gd name="adj" fmla="val 8000"/>
            </a:avLst>
          </a:prstGeom>
          <a:solidFill>
            <a:srgbClr val="161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AI card 3 text"/>
          <p:cNvSpPr txBox="1"/>
          <p:nvPr/>
        </p:nvSpPr>
        <p:spPr>
          <a:xfrm>
            <a:off x="1638300" y="6718300"/>
            <a:ext cx="4432300" cy="1866900"/>
          </a:xfrm>
          <a:prstGeom prst="rect">
            <a:avLst/>
          </a:prstGeom>
          <a:noFill/>
        </p:spPr>
        <p:txBody>
          <a:bodyPr wrap="square" anchor="t" lIns="25400" rIns="25400" tIns="25400" bIns="25400">
            <a:spAutoFit/>
          </a:bodyPr>
          <a:lstStyle/>
          <a:p>
            <a:pPr algn="r" rtl="1"/>
            <a:r>
              <a:rPr sz="2000" b="1">
                <a:solidFill>
                  <a:srgbClr val="2EF2C2"/>
                </a:solidFill>
                <a:latin typeface="Readex Pro"/>
                <a:cs typeface="Readex Pro"/>
              </a:rPr>
              <a:t>التقييم الآلي</a:t>
            </a:r>
          </a:p>
          <a:p>
            <a:pPr algn="r" rtl="1"/>
            <a:r>
              <a:rPr sz="1700" b="0">
                <a:solidFill>
                  <a:srgbClr val="FFFFFF"/>
                </a:solidFill>
                <a:latin typeface="Readex Pro"/>
                <a:cs typeface="Readex Pro"/>
              </a:rPr>
              <a:t>الحالات الاختبارية الاثنتا عشرة في الحزمة العلمية تُشغَّل آلياً على المرشد، ويُقاس الامتناع والإحالة والإسناد.</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القيمة المضافة</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«يومك» مقابل روبوت محادثة عام</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أساس المقارنة: الحالات الاختبارية الاثنتا عشرة في الحزمة العلمية · النتيجة المقيسة: {{EVAL_COMPARISON}}</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«يومك»</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تجربة الموقف ثم الدليل، ومرشد مقيّد بالمصادر المراجعة</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روبوت محادثة عام</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إجابة نصية سريعة عن أي سؤال، من معرفة النموذج العامة</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يستشهد بمعرّفات مقاطع تحقّقنا منها، أو يمتنع</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يحيل الحالة الشخصية إلى عالم، والسؤال يصل إلى خبراء</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رحلة مخصّصة داخل بلدة، بلا حساب ولا تتبّع للمعتقد</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قد ينسب نصاً أو حديثاً دون مصدر يمكن تتبّعه</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قد يجيب عن الحالة الشخصية بحكم مستقل</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لا تجربة ولا تسلسل تعليمي ولا قياس للفهم</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«يومك» · فريق Lemonada: أبوبكر أبوشام، محمد المبارك</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{{LIVE_URL}}</a:t>
            </a:r>
            <a:endParaRPr/>
          </a:p>
          <a:p>
            <a:pPr indent="0" lvl="0" marL="0" rtl="0"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github.com/B4r4k4/yawmuk  |  {{VIDEO_URL}}</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